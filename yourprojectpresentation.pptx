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33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FOR BHARAT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JanSahayak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22677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ka Apna Scheme Assistant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758952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3580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voice-enabled WhatsApp &amp; Telegram bot that helps rural Indians apply for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PM-KISAN, Ration Card &amp; Ayushman Bharat — in their own language, zero typing.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0050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Languages  ·  3 Schemes  ·  8 Minutes  ·  ₹0.003 per application  ·  WhatsApp + Telegram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VUPO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rural India misses out on benefits they deserve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54864" cy="9601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80160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536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govt portals are English-first. 74% of rural Indians cannot navigate them.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54864" cy="9601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468880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2724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own basic Android phones. Official portals time out or crash on slow networks.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54864" cy="9601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657600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3584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CSC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3913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rural citizen is 11–15 km from the nearest Common Service Centre.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11155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 Cr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0" y="15910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govt benefits go unclaimed every year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956816"/>
            <a:ext cx="384048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04825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Crore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46320" y="25237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farmers not enrolled in PM-KISAN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889504"/>
            <a:ext cx="384048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809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846320" y="3456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users cannot navigate govt websites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822192"/>
            <a:ext cx="384048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91363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Crore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46320" y="4389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cards not activated despite eligibility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097280"/>
            <a:ext cx="0" cy="352044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not eligibility — it is access.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Ramaiah applies for PM-KISAN — entirely in Telugu, in 8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166360" y="859536"/>
            <a:ext cx="1261872" cy="21945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66360" y="8595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01384" y="859536"/>
            <a:ext cx="1261872" cy="21945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1384" y="8595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Card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36408" y="859536"/>
            <a:ext cx="1261872" cy="219456"/>
          </a:xfrm>
          <a:prstGeom prst="rect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36408" y="8595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2608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1024128"/>
            <a:ext cx="1152144" cy="7315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Telugu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options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444752" y="2715768"/>
            <a:ext cx="73152" cy="0"/>
          </a:xfrm>
          <a:prstGeom prst="line">
            <a:avLst/>
          </a:prstGeom>
          <a:noFill/>
          <a:ln w="19050">
            <a:solidFill>
              <a:srgbClr val="E856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17904" y="1024128"/>
            <a:ext cx="1152144" cy="731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5376" y="1170432"/>
            <a:ext cx="457200" cy="4572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65376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19656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965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72768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70048" y="2715768"/>
            <a:ext cx="73152" cy="0"/>
          </a:xfrm>
          <a:prstGeom prst="line">
            <a:avLst/>
          </a:prstGeom>
          <a:noFill/>
          <a:ln w="19050">
            <a:solidFill>
              <a:srgbClr val="E856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1024128"/>
            <a:ext cx="1152144" cy="73152"/>
          </a:xfrm>
          <a:prstGeom prst="rect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90672" y="1170432"/>
            <a:ext cx="457200" cy="457200"/>
          </a:xfrm>
          <a:prstGeom prst="ellipse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044952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95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98064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98064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buttons only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95344" y="2715768"/>
            <a:ext cx="73152" cy="0"/>
          </a:xfrm>
          <a:prstGeom prst="line">
            <a:avLst/>
          </a:prstGeom>
          <a:noFill/>
          <a:ln w="19050">
            <a:solidFill>
              <a:srgbClr val="E856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68496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68496" y="1024128"/>
            <a:ext cx="1152144" cy="7315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5968" y="1170432"/>
            <a:ext cx="457200" cy="457200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270248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02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0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23360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mobile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in Telugu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20640" y="2715768"/>
            <a:ext cx="73152" cy="0"/>
          </a:xfrm>
          <a:prstGeom prst="line">
            <a:avLst/>
          </a:prstGeom>
          <a:noFill/>
          <a:ln w="19050">
            <a:solidFill>
              <a:srgbClr val="E856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93792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193792" y="1024128"/>
            <a:ext cx="1152144" cy="731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41264" y="1170432"/>
            <a:ext cx="457200" cy="4572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41264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95544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55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48656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OCR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48656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scanned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seconds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45936" y="2715768"/>
            <a:ext cx="73152" cy="0"/>
          </a:xfrm>
          <a:prstGeom prst="line">
            <a:avLst/>
          </a:prstGeom>
          <a:noFill/>
          <a:ln w="19050">
            <a:solidFill>
              <a:srgbClr val="E8560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19088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19088" y="1024128"/>
            <a:ext cx="1152144" cy="73152"/>
          </a:xfrm>
          <a:prstGeom prst="rect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1170432"/>
            <a:ext cx="457200" cy="457200"/>
          </a:xfrm>
          <a:prstGeom prst="ellipse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720840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73952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73952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Yes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571232" y="2715768"/>
            <a:ext cx="73152" cy="0"/>
          </a:xfrm>
          <a:prstGeom prst="line">
            <a:avLst/>
          </a:prstGeom>
          <a:noFill/>
          <a:ln w="19050">
            <a:solidFill>
              <a:srgbClr val="E8560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44384" y="1024128"/>
            <a:ext cx="11521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644384" y="1024128"/>
            <a:ext cx="1152144" cy="7315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91856" y="1170432"/>
            <a:ext cx="457200" cy="457200"/>
          </a:xfrm>
          <a:prstGeom prst="ellipse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91856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946136" y="1783080"/>
            <a:ext cx="548640" cy="5486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4613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[RPA]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699248" y="239572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Form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699248" y="28346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form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+ ref ID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8 min end-to-end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429000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DPDP Act Compliant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00800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Works on any Android with 2G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RECORDING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sequence when screen-recording the bot demo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9536" y="106070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0607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9536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WhatsApp → message +1 415 523 8886 → send hi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Start from home screen — proves it's real WhatsApp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9536" y="1901952"/>
            <a:ext cx="356616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005840"/>
            <a:ext cx="347472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0056" y="106070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0056" y="10607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0:08–0:18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0056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grid appears → tap Telugu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0056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Pause 1 sec so all 9 language buttons are visible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0056" y="1901952"/>
            <a:ext cx="356616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" y="202082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02082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0:18–0:30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switches to Telugu → tap PM-KISAN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Zoom in — this is your first WOW moment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9536" y="2862072"/>
            <a:ext cx="356616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965960"/>
            <a:ext cx="347472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0056" y="202082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0056" y="202082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0:30–0:50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0056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Eligibility: Farmer → 1–2 acres → Below ₹1L income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0056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Tap slowly — every button press should be clear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0056" y="2862072"/>
            <a:ext cx="356616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9536" y="298094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298094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9536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voice message — speak mobile number in Telugu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9536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Show bot echo: 'I heard XXXXXXXXXX — correct?'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9536" y="3822192"/>
            <a:ext cx="356616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926080"/>
            <a:ext cx="347472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0056" y="298094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0056" y="298094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1:05–1:25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0056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Aadhaar photo → OCR extracts data in 3 sec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0056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Show XXXX XXXX 1234 — masked number = DPDP proof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0056" y="3822192"/>
            <a:ext cx="356616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886200"/>
            <a:ext cx="347472" cy="3474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9536" y="394106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394106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1:25–1:40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59536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summary card → tap Yes to confirm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59536" y="4489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Hold 2 seconds so judges can read the summary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3886200"/>
            <a:ext cx="347472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0056" y="3941064"/>
            <a:ext cx="749808" cy="22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0056" y="394106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1:40–2:00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0056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→ filled form screenshot → Application ID arrives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20056" y="4489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Let App ID sit on screen 3 sec — this is your close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81888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Target: 2 min recording  ·  Do 3 takes, use cleanest  ·  1080p  ·  Quiet room for voiceover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Ramaiah applies for PM-KISAN — watch the full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34640" y="914400"/>
            <a:ext cx="3474720" cy="3886200"/>
          </a:xfrm>
          <a:prstGeom prst="roundRect">
            <a:avLst>
              <a:gd name="adj" fmla="val 5789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99232" y="1214042"/>
            <a:ext cx="3145536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2377440"/>
            <a:ext cx="822960" cy="822960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99232" y="3364992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024128"/>
            <a:ext cx="731520" cy="137160"/>
          </a:xfrm>
          <a:prstGeom prst="roundRect">
            <a:avLst>
              <a:gd name="adj" fmla="val 40000"/>
            </a:avLst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4617720"/>
            <a:ext cx="548640" cy="91440"/>
          </a:xfrm>
          <a:prstGeom prst="roundRect">
            <a:avLst>
              <a:gd name="adj" fmla="val 40000"/>
            </a:avLst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judges will see: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47088"/>
            <a:ext cx="91440" cy="9144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WhatsApp — no prototype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91440" cy="9144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194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UI — language switch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91440" cy="9144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633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 local dialect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91440" cy="9144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OCR in 3 seconds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91440" cy="9144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511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 delivered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58368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WhatsApp "hi"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Application 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246120"/>
            <a:ext cx="192024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364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typing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English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office visits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scale, optimised for rural India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₹0.003 per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371600" cy="25603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&amp;  INPUT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335024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99616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426464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Telegram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API + bot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2G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335024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499616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58768" y="1426464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LLaMA3.370B and </a:t>
            </a:r>
            <a:r>
              <a:rPr lang="en-US" sz="1200" b="1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3.3 70B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1755648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9-language NLP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native script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335024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499616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65976" y="1426464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Transcribe and </a:t>
            </a:r>
            <a:r>
              <a:rPr lang="en-US" sz="1200" b="1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Whisper Large V3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65976" y="1755648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dialects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3716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633472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272491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</a:t>
            </a:r>
            <a:r>
              <a:rPr lang="en-US" sz="1200" b="1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Vision OCR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05409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photo →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masked (DPDP)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64408" y="2633472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55848" y="2798064"/>
            <a:ext cx="384048" cy="384048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58768" y="272491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RPA Agent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58768" y="305409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govt forms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45 seconds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71616" y="2633472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798064"/>
            <a:ext cx="384048" cy="384048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65976" y="272491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Firebase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65976" y="305409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+ Firestore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584448"/>
            <a:ext cx="1371600" cy="256032"/>
          </a:xfrm>
          <a:prstGeom prst="rect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4096512"/>
            <a:ext cx="384048" cy="384048"/>
          </a:xfrm>
          <a:prstGeom prst="ellipse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51560" y="402336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" y="43525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64408" y="3931920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55848" y="4096512"/>
            <a:ext cx="384048" cy="384048"/>
          </a:xfrm>
          <a:prstGeom prst="ellipse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5584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58768" y="402336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858768" y="43525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always masked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71616" y="3931920"/>
            <a:ext cx="2606040" cy="8412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63056" y="4096512"/>
            <a:ext cx="384048" cy="384048"/>
          </a:xfrm>
          <a:prstGeom prst="ellipse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65976" y="402336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65976" y="43525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performance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per request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3 districts in Telangana — here is what the data shows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828800" cy="54864"/>
          </a:xfrm>
          <a:prstGeom prst="rect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completed full PM-KISAN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without any human assistance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24128"/>
            <a:ext cx="18288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1556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51460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Application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3+ hours waiting at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CSC centre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182880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1556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OCR Speed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50+ test photos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varying lighting conditions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024128"/>
            <a:ext cx="1828800" cy="54864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11556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72084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Scheme Matching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logic validated against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PM-KISAN criteria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804672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72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4564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4564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farmers across Nalgonda, Warangal &amp; Karimnagar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4564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16752" y="34564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32–61 years — none with prior digital form experience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used: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10512" y="3840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Android phones, 2 on feature phones via USSD fallback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840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tested: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16752" y="3840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(primary), Hindi, Tamil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224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covered: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10512" y="42245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PM-KISAN, Ration Card, Ayushman Bharat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224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definition: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16752" y="42245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 received without external help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to crores — a realistic 12-month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777240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1700784"/>
            <a:ext cx="365760" cy="365760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326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4081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— March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61872" y="2304288"/>
            <a:ext cx="0" cy="0"/>
          </a:xfrm>
          <a:prstGeom prst="line">
            <a:avLst/>
          </a:prstGeom>
          <a:noFill/>
          <a:ln w="25400">
            <a:solidFill>
              <a:srgbClr val="E85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12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PM-KISAN, Ration Card,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61872" y="2734056"/>
            <a:ext cx="0" cy="0"/>
          </a:xfrm>
          <a:prstGeom prst="line">
            <a:avLst/>
          </a:prstGeom>
          <a:noFill/>
          <a:ln w="25400">
            <a:solidFill>
              <a:srgbClr val="E85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6426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9 languages active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1872" y="3163824"/>
            <a:ext cx="0" cy="0"/>
          </a:xfrm>
          <a:prstGeom prst="line">
            <a:avLst/>
          </a:prstGeom>
          <a:noFill/>
          <a:ln w="25400">
            <a:solidFill>
              <a:srgbClr val="E85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0723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Telangana pilot complete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1872" y="3593592"/>
            <a:ext cx="0" cy="0"/>
          </a:xfrm>
          <a:prstGeom prst="line">
            <a:avLst/>
          </a:prstGeom>
          <a:noFill/>
          <a:ln w="25400">
            <a:solidFill>
              <a:srgbClr val="E85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502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₹0.003 cost per application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4096512"/>
            <a:ext cx="1600200" cy="32918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965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500+ applications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53712" y="1700784"/>
            <a:ext cx="365760" cy="36576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9326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31920" y="14081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post-launch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96512" y="2304288"/>
            <a:ext cx="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2212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 additional schemes added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96512" y="2734056"/>
            <a:ext cx="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26426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12 states onboarded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96512" y="3163824"/>
            <a:ext cx="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30723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CSC centre integration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96512" y="3593592"/>
            <a:ext cx="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3502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WhatsApp live via Twilio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4096512"/>
            <a:ext cx="16002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40965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 Lakh applications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88352" y="1700784"/>
            <a:ext cx="365760" cy="365760"/>
          </a:xfrm>
          <a:prstGeom prst="ellipse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93268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14081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post-launch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31152" y="2304288"/>
            <a:ext cx="0" cy="0"/>
          </a:xfrm>
          <a:prstGeom prst="line">
            <a:avLst/>
          </a:prstGeom>
          <a:noFill/>
          <a:ln w="25400">
            <a:solidFill>
              <a:srgbClr val="0A7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2212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28 states covered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31152" y="2734056"/>
            <a:ext cx="0" cy="0"/>
          </a:xfrm>
          <a:prstGeom prst="line">
            <a:avLst/>
          </a:prstGeom>
          <a:noFill/>
          <a:ln w="25400">
            <a:solidFill>
              <a:srgbClr val="0A7E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26426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20+ government schemes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31152" y="3163824"/>
            <a:ext cx="0" cy="0"/>
          </a:xfrm>
          <a:prstGeom prst="line">
            <a:avLst/>
          </a:prstGeom>
          <a:noFill/>
          <a:ln w="25400">
            <a:solidFill>
              <a:srgbClr val="0A7E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30723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 Govt MoU signed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31152" y="3593592"/>
            <a:ext cx="0" cy="0"/>
          </a:xfrm>
          <a:prstGeom prst="line">
            <a:avLst/>
          </a:prstGeom>
          <a:noFill/>
          <a:ln w="25400">
            <a:solidFill>
              <a:srgbClr val="0A7E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3502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 crore users reachable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4096512"/>
            <a:ext cx="1600200" cy="329184"/>
          </a:xfrm>
          <a:prstGeom prst="rect">
            <a:avLst/>
          </a:prstGeom>
          <a:solidFill>
            <a:srgbClr val="0A7E5C"/>
          </a:solidFill>
          <a:ln w="12700">
            <a:solidFill>
              <a:srgbClr val="0A7E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0965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 Crore applications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53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773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form integration: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demo replica form — not live-connected to official portals yet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55848" y="4773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accuracy: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55848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Telugu &amp; Hindi; other dialects need more training data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54496" y="4773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access: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54496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2G minimum — full offline mode planned for Q3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JANSAHAYAK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vs. what we built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32304" y="960120"/>
            <a:ext cx="1627632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2304" y="960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 Portal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(Official)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33088" y="960120"/>
            <a:ext cx="1627632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960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Mitra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(Andhra Pradesh)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33872" y="960120"/>
            <a:ext cx="1627632" cy="502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960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Jugalbandi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(OpenNyAI)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34656" y="960120"/>
            <a:ext cx="1627632" cy="5029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4656" y="960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JanSahayak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1554480"/>
            <a:ext cx="844905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WhatsApp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32304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33088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33872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572768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1984248"/>
            <a:ext cx="84490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(regional dialect)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32304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33088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33872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2002536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2414016"/>
            <a:ext cx="844905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140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OCR from photo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32304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33088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2432304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4656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2843784"/>
            <a:ext cx="84490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8437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form submission (RPA)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32304" y="2843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33088" y="2843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33872" y="2843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8080" y="2862072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2843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" y="3273552"/>
            <a:ext cx="844905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2735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 8 minutes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32304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33088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33872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0" y="3291840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34656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" y="3703320"/>
            <a:ext cx="84490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 install needed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432304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33088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33872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98080" y="3721608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34656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" y="4133088"/>
            <a:ext cx="844905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133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Indian languages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432304" y="4133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133088" y="4133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33872" y="4133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98080" y="4151376"/>
            <a:ext cx="1627632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34656" y="4133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590288"/>
            <a:ext cx="8229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JanSahayak is the only solution that combines voice input + Aadhaar OCR + auto form submission in a single WhatsApp flow — built specifically for users who cannot read or type.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92608"/>
            <a:ext cx="8046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"JanSahayak is a voice-enabled WhatsApp &amp; Telegram bot that helps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Indians apply for PM-KISAN, Ration Card and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— in their own language,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typing, no English, no office visits required."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212848"/>
            <a:ext cx="8046720" cy="0"/>
          </a:xfrm>
          <a:prstGeom prst="line">
            <a:avLst/>
          </a:prstGeom>
          <a:noFill/>
          <a:ln w="12700">
            <a:solidFill>
              <a:srgbClr val="1F3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5915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235915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35915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69080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Application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235915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52360" y="235915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52360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310128"/>
            <a:ext cx="8046720" cy="0"/>
          </a:xfrm>
          <a:prstGeom prst="line">
            <a:avLst/>
          </a:prstGeom>
          <a:noFill/>
          <a:ln w="12700">
            <a:solidFill>
              <a:srgbClr val="1F3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NLP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pipeline, Whisper voice, Groq Vision OCR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70632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&amp; 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70632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Twilio, Telegram bot, FastAPI, Firebase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55464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Languages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55464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9-language flows, accessibility, button design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029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Cloud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EC2, deployment, load testing, monitoring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773168"/>
            <a:ext cx="83210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JanSahayak  ·  WhatsApp &amp; Telegram  ·  Team VUPO  ·  AWS AI for Bharat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1187</Words>
  <Application>Microsoft Office PowerPoint</Application>
  <PresentationFormat>On-screen Show (16:9)</PresentationFormat>
  <Paragraphs>304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JanSahayak</dc:title>
  <dc:subject>PptxGenJS Presentation</dc:subject>
  <dc:creator>PptxGenJS</dc:creator>
  <cp:lastModifiedBy>Dhruva Sai</cp:lastModifiedBy>
  <cp:revision>2</cp:revision>
  <dcterms:created xsi:type="dcterms:W3CDTF">2026-03-02T06:10:46Z</dcterms:created>
  <dcterms:modified xsi:type="dcterms:W3CDTF">2026-03-02T14:59:04Z</dcterms:modified>
</cp:coreProperties>
</file>